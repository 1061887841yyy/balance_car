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bb39ca60844130" /><Relationship Type="http://schemas.openxmlformats.org/officeDocument/2006/relationships/extended-properties" Target="/docProps/app.xml" Id="R4023da5774534235" /><Relationship Type="http://schemas.openxmlformats.org/officeDocument/2006/relationships/officeDocument" Target="/ppt/presentation.xml" Id="Rf88a430ea0c248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11641eb78649ce"/>
  </p:sldMasterIdLst>
  <p:notesMasterIdLst>
    <p:notesMasterId xmlns:r="http://schemas.openxmlformats.org/officeDocument/2006/relationships" r:id="R9d1be812093a493b"/>
  </p:notesMasterIdLst>
  <p:sldIdLst>
    <p:sldId xmlns:r="http://schemas.openxmlformats.org/officeDocument/2006/relationships" id="256" r:id="Rbf671a9b208749e1"/>
    <p:sldId xmlns:r="http://schemas.openxmlformats.org/officeDocument/2006/relationships" id="257" r:id="R765e22224f0a4910"/>
    <p:sldId xmlns:r="http://schemas.openxmlformats.org/officeDocument/2006/relationships" id="258" r:id="Radccf72b9b9f4f1b"/>
    <p:sldId xmlns:r="http://schemas.openxmlformats.org/officeDocument/2006/relationships" id="259" r:id="R6571058e3e694a93"/>
    <p:sldId xmlns:r="http://schemas.openxmlformats.org/officeDocument/2006/relationships" id="260" r:id="Rbb9e9dd8862f4303"/>
    <p:sldId xmlns:r="http://schemas.openxmlformats.org/officeDocument/2006/relationships" id="261" r:id="R815bebfcf9e34505"/>
    <p:sldId xmlns:r="http://schemas.openxmlformats.org/officeDocument/2006/relationships" id="262" r:id="R47842fd0c74a4774"/>
    <p:sldId xmlns:r="http://schemas.openxmlformats.org/officeDocument/2006/relationships" id="263" r:id="R5be022c9815e4e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e307d537e947a8" /><Relationship Type="http://schemas.openxmlformats.org/officeDocument/2006/relationships/slideMaster" Target="/ppt/slideMasters/slideMaster1.xml" Id="R2f11641eb78649ce" /><Relationship Type="http://schemas.openxmlformats.org/officeDocument/2006/relationships/notesMaster" Target="/ppt/notesMasters/notesMaster1.xml" Id="R9d1be812093a493b" /><Relationship Type="http://schemas.openxmlformats.org/officeDocument/2006/relationships/presProps" Target="/ppt/presProps.xml" Id="R80c410fe83c64f25" /><Relationship Type="http://schemas.openxmlformats.org/officeDocument/2006/relationships/tableStyles" Target="/ppt/tableStyles.xml" Id="Rfd6dad3f2e5c41a2" /><Relationship Type="http://schemas.openxmlformats.org/officeDocument/2006/relationships/slide" Target="/ppt/slides/slide1.xml" Id="Rbf671a9b208749e1" /><Relationship Type="http://schemas.openxmlformats.org/officeDocument/2006/relationships/slide" Target="/ppt/slides/slide2.xml" Id="R765e22224f0a4910" /><Relationship Type="http://schemas.openxmlformats.org/officeDocument/2006/relationships/slide" Target="/ppt/slides/slide3.xml" Id="Radccf72b9b9f4f1b" /><Relationship Type="http://schemas.openxmlformats.org/officeDocument/2006/relationships/slide" Target="/ppt/slides/slide4.xml" Id="R6571058e3e694a93" /><Relationship Type="http://schemas.openxmlformats.org/officeDocument/2006/relationships/slide" Target="/ppt/slides/slide5.xml" Id="Rbb9e9dd8862f4303" /><Relationship Type="http://schemas.openxmlformats.org/officeDocument/2006/relationships/slide" Target="/ppt/slides/slide6.xml" Id="R815bebfcf9e34505" /><Relationship Type="http://schemas.openxmlformats.org/officeDocument/2006/relationships/slide" Target="/ppt/slides/slide7.xml" Id="R47842fd0c74a4774" /><Relationship Type="http://schemas.openxmlformats.org/officeDocument/2006/relationships/slide" Target="/ppt/slides/slide8.xml" Id="R5be022c9815e4e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2202b6dde240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66ff171a254a40" /><Relationship Type="http://schemas.openxmlformats.org/officeDocument/2006/relationships/notesMaster" Target="/ppt/notesMasters/notesMaster1.xml" Id="R6a92ba30f0bc47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060457563433a" /><Relationship Type="http://schemas.openxmlformats.org/officeDocument/2006/relationships/notesMaster" Target="/ppt/notesMasters/notesMaster1.xml" Id="R526eb86b2d6c46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f43392d3d44d6f" /><Relationship Type="http://schemas.openxmlformats.org/officeDocument/2006/relationships/notesMaster" Target="/ppt/notesMasters/notesMaster1.xml" Id="Rc50064d8711d48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ee0432ce354f64" /><Relationship Type="http://schemas.openxmlformats.org/officeDocument/2006/relationships/notesMaster" Target="/ppt/notesMasters/notesMaster1.xml" Id="R8b22d6c478d940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115095226a42e6" /><Relationship Type="http://schemas.openxmlformats.org/officeDocument/2006/relationships/notesMaster" Target="/ppt/notesMasters/notesMaster1.xml" Id="R068afe977f8741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d8757ef00a4881" /><Relationship Type="http://schemas.openxmlformats.org/officeDocument/2006/relationships/notesMaster" Target="/ppt/notesMasters/notesMaster1.xml" Id="R8391f8469fa24d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0195de4f654c90" /><Relationship Type="http://schemas.openxmlformats.org/officeDocument/2006/relationships/notesMaster" Target="/ppt/notesMasters/notesMaster1.xml" Id="Ra9584d3f941840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62bad791384dc5" /><Relationship Type="http://schemas.openxmlformats.org/officeDocument/2006/relationships/notesMaster" Target="/ppt/notesMasters/notesMaster1.xml" Id="Re06c9b140fb447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ff1f951b54d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b2d438a4f046a6" /><Relationship Type="http://schemas.openxmlformats.org/officeDocument/2006/relationships/slideLayout" Target="/ppt/slideLayouts/slideLayout1.xml" Id="R83a9e1df13304d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a9e1df13304d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d101cd1174ae4" /><Relationship Type="http://schemas.openxmlformats.org/officeDocument/2006/relationships/image" Target="/ppt/media/image.png" Id="R5e79147e22fb477a" /><Relationship Type="http://schemas.openxmlformats.org/officeDocument/2006/relationships/notesSlide" Target="/ppt/notesSlides/notesSlide1.xml" Id="Rfbbf5f3c9b2540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b11df31a64ad3" /><Relationship Type="http://schemas.openxmlformats.org/officeDocument/2006/relationships/image" Target="/ppt/media/image2.png" Id="R432f788f499d4c50" /><Relationship Type="http://schemas.openxmlformats.org/officeDocument/2006/relationships/notesSlide" Target="/ppt/notesSlides/notesSlide2.xml" Id="R8426331791e147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dff1448d041ef" /><Relationship Type="http://schemas.openxmlformats.org/officeDocument/2006/relationships/image" Target="/ppt/media/image3.png" Id="R1bbf69c9fef24b7b" /><Relationship Type="http://schemas.openxmlformats.org/officeDocument/2006/relationships/image" Target="/ppt/media/image.jpeg" Id="Ree94a1898cbe4dc7" /><Relationship Type="http://schemas.openxmlformats.org/officeDocument/2006/relationships/image" Target="/ppt/media/image2.jpeg" Id="R2b620af6251241eb" /><Relationship Type="http://schemas.openxmlformats.org/officeDocument/2006/relationships/image" Target="/ppt/media/image4.png" Id="R4e719a8f41cc4825" /><Relationship Type="http://schemas.openxmlformats.org/officeDocument/2006/relationships/image" Target="/ppt/media/image5.png" Id="R3c8ca49e4b65416d" /><Relationship Type="http://schemas.openxmlformats.org/officeDocument/2006/relationships/notesSlide" Target="/ppt/notesSlides/notesSlide3.xml" Id="R271e6702eb434e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67edf2e164a7c" /><Relationship Type="http://schemas.openxmlformats.org/officeDocument/2006/relationships/image" Target="/ppt/media/image6.png" Id="R37993898d9bb44e7" /><Relationship Type="http://schemas.openxmlformats.org/officeDocument/2006/relationships/image" Target="/ppt/media/image3.jpeg" Id="R9583f6165a594ce6" /><Relationship Type="http://schemas.openxmlformats.org/officeDocument/2006/relationships/image" Target="/ppt/media/image4.jpeg" Id="Rf8824788bac04b6f" /><Relationship Type="http://schemas.openxmlformats.org/officeDocument/2006/relationships/image" Target="/ppt/media/image5.jpeg" Id="Rb6fee7bba74248b1" /><Relationship Type="http://schemas.openxmlformats.org/officeDocument/2006/relationships/notesSlide" Target="/ppt/notesSlides/notesSlide4.xml" Id="R75fbbd3747c143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ab31296904b9b" /><Relationship Type="http://schemas.openxmlformats.org/officeDocument/2006/relationships/image" Target="/ppt/media/image7.png" Id="R1edfb22bc04c4d5b" /><Relationship Type="http://schemas.openxmlformats.org/officeDocument/2006/relationships/image" Target="/ppt/media/image6.jpeg" Id="R6310d228bd8b4b0e" /><Relationship Type="http://schemas.openxmlformats.org/officeDocument/2006/relationships/image" Target="/ppt/media/image7.jpeg" Id="R1075f185e75a4800" /><Relationship Type="http://schemas.openxmlformats.org/officeDocument/2006/relationships/notesSlide" Target="/ppt/notesSlides/notesSlide5.xml" Id="R842cbafe3ade43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a693765e44e02" /><Relationship Type="http://schemas.openxmlformats.org/officeDocument/2006/relationships/image" Target="/ppt/media/image8.png" Id="Rea6eb50657ed4ff7" /><Relationship Type="http://schemas.openxmlformats.org/officeDocument/2006/relationships/notesSlide" Target="/ppt/notesSlides/notesSlide6.xml" Id="R76e70ea8066c4d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54f9a888e432b" /><Relationship Type="http://schemas.openxmlformats.org/officeDocument/2006/relationships/image" Target="/ppt/media/image9.png" Id="Ra5408c42d0a44d05" /><Relationship Type="http://schemas.openxmlformats.org/officeDocument/2006/relationships/notesSlide" Target="/ppt/notesSlides/notesSlide7.xml" Id="R33567891c08d40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c6c11a5a14e20" /><Relationship Type="http://schemas.openxmlformats.org/officeDocument/2006/relationships/image" Target="/ppt/media/image10.png" Id="R6ecff4a90b38422d" /><Relationship Type="http://schemas.openxmlformats.org/officeDocument/2006/relationships/image" Target="/ppt/media/image8.jpeg" Id="R0ac80cfc787a42d1" /><Relationship Type="http://schemas.openxmlformats.org/officeDocument/2006/relationships/notesSlide" Target="/ppt/notesSlides/notesSlide8.xml" Id="Rb4118d00e6804f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9147e22fb477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E5954-199A-4481-A993-CCE6F92B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2E5FA-B438-4A66-84D9-6E4ECB5B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FED47-FBB6-4297-926C-111C7E43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7FA"/>
                </a:solidFill>
              </a:defRPr>
            </a:pPr>
            <a:r>
              <a:rPr sz="4050" b="1">
                <a:solidFill>
                  <a:srgbClr val="F5F7F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7522F-C77D-4C2F-B784-5CD5FE44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58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D96DE-1E5C-4CD2-9CEF-A963D45B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58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F7FA">
                <a:alpha val="4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12997-BE50-481B-BC8A-F8BD8F9E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0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E9DE4-495C-414A-A96B-384ADE7A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942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8F3C6-3853-40C6-ADA3-8FCEAF35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A"/>
                </a:solidFill>
              </a:defRPr>
            </a:pPr>
            <a:r>
              <a:rPr sz="4350" b="1">
                <a:solidFill>
                  <a:srgbClr val="F5F7FA"/>
                </a:solidFill>
              </a:rPr>
              <a:t>FOOD SUPPLY</a:t>
            </a:r>
          </a:p>
          <a:p xmlns:a="http://schemas.openxmlformats.org/drawingml/2006/main">
            <a:pPr algn="l">
              <a:defRPr sz="4350" b="1">
                <a:solidFill>
                  <a:srgbClr val="F5F7FA"/>
                </a:solidFill>
              </a:defRPr>
            </a:pPr>
            <a:r>
              <a:rPr sz="4350" b="1">
                <a:solidFill>
                  <a:srgbClr val="F5F7FA"/>
                </a:solidFill>
              </a:rPr>
              <a:t>ROBOT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83BA2-A8D3-4F7A-941C-F53170DE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7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DBF2A-29AE-48A8-8B07-4D6EC6AD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F7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D2448-9846-4E27-95ED-9A8FDD51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7FA"/>
                </a:solidFill>
              </a:defRPr>
            </a:pPr>
            <a:r>
              <a:rPr sz="2250" b="1">
                <a:solidFill>
                  <a:srgbClr val="F5F7FA"/>
                </a:solidFill>
              </a:rPr>
              <a:t>食品供应链双轮运输机器人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8CE97-3ECE-4080-B75E-E849190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6C2"/>
                </a:solidFill>
              </a:defRPr>
            </a:pPr>
            <a:r>
              <a:rPr sz="1500" b="0">
                <a:solidFill>
                  <a:srgbClr val="AEB6C2"/>
                </a:solidFill>
              </a:rPr>
              <a:t>《传感与测量技术》Z1期末项目简报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03A5B-349E-4DCD-BBC4-EFCAE3B2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9C870-86E3-42C7-867F-BB219425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7FA"/>
                </a:solidFill>
              </a:defRPr>
            </a:pPr>
            <a:r>
              <a:rPr sz="975" b="1">
                <a:solidFill>
                  <a:srgbClr val="F5F7FA"/>
                </a:solidFill>
              </a:rPr>
              <a:t>第05组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8F43C-58B8-4224-8ACE-295B3DB9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6C2"/>
                </a:solidFill>
              </a:defRPr>
            </a:pPr>
            <a:r>
              <a:rPr sz="1350" b="0">
                <a:solidFill>
                  <a:srgbClr val="AEB6C2"/>
                </a:solidFill>
              </a:rPr>
              <a:t>双轮底盘 · 食材称重 · 温湿度环境 · 蓝牙APP控制</a:t>
            </a:r>
          </a:p>
        </p:txBody>
      </p:sp>
    </p:spTree>
    <p:extLst>
      <p:ext uri="{BB962C8B-B14F-4D97-AF65-F5344CB8AC3E}">
        <p14:creationId xmlns:p14="http://schemas.microsoft.com/office/powerpoint/2010/main" val="219262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f788f499d4c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75B1C-7B19-4A56-BE37-7E0A8849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275F4-7B75-479D-AA45-D0180AE0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37C1B-C16B-47C2-ABB0-EC679694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1162D"/>
                </a:solidFill>
              </a:defRPr>
            </a:pPr>
            <a:r>
              <a:rPr sz="4050" b="1">
                <a:solidFill>
                  <a:srgbClr val="E116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E8BDF-9F33-4F67-9E94-98CA0CF1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58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F4824-1E6B-47F0-A6F2-2A6AA246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58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F7FA">
                <a:alpha val="4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19C4E-0AAA-44AC-A36F-2C38279D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</a:defRPr>
            </a:pPr>
            <a:r>
              <a:rPr sz="2550" b="1">
                <a:solidFill>
                  <a:srgbClr val="F5F7FA"/>
                </a:solidFill>
              </a:rPr>
              <a:t>场景定位与项目目标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B5B7F-E8D3-4210-A858-AA035059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6C2"/>
                </a:solidFill>
              </a:defRPr>
            </a:pPr>
            <a:r>
              <a:rPr sz="1275" b="0">
                <a:solidFill>
                  <a:srgbClr val="AEB6C2"/>
                </a:solidFill>
              </a:rPr>
              <a:t>面向食品供应链末端搬运，关注足称、环境与远程调度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B1DC8-FE67-4801-AFC3-A5606A6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0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E3E4C-EB7A-42AD-BB9A-C48B22EE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942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64B9-7209-419A-9DE3-42EA4F6D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09D6A-30EF-4CB6-83C1-A32B1067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8A1B3-A1F8-46D9-A6F9-0408361D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为什么是双轮底盘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5BBD1-B1A2-4E06-B902-52DE3082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533D7-2281-474F-BB3D-82CD5516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减少宽度和转弯空间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7F068-763D-4CEA-8F66-8007D91F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3BE4E-C23B-4CED-B300-699AA978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03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适合厨房、仓储、通道等狭窄场景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BE7B3-F675-484E-9CCB-16887BB5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BFA65-8FC2-4840-AC05-79F93EC4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左右轮差速实现灵活转向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993D9-E7D1-4FC9-922A-FB97F50D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31432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8B1D3-1CFB-4DD5-A88C-E382490A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668E4-006B-420C-84C0-28F33AA2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71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为什么要测量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4B038-E5FE-4F74-B27F-34B81416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2E840-AB7A-448E-B782-91966491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90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重量用于检查食材是否足称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B83E2-6E2E-4575-9600-F1752BE0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C2A47-9333-4BD1-ACF4-658DE952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003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温湿度用于判断环境是否适合放置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4C2FB6-1EFB-4643-98EB-37BED7C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67383-CD16-4087-986A-AA8DB593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99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OLED现场反馈关键数据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78504-18FB-4044-897E-88F34E27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1432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DCA6E2-C339-40F8-B430-F6C930D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40A507-8DD8-4D90-A60A-BEA6C915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71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当前可实现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BD19F3-6AFA-4E85-847B-F9ABD30E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EE4BB0-A7CD-4370-AAD2-8315BB6C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90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蓝牙APP远程控制运动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67B933-0543-4B4C-A7CE-B1A7449A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35BA39-5AA6-4B13-A605-4DC8D00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03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温湿度与重量估算显示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395E8E-E760-4CAD-8DFE-334AA153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83108D-9569-499E-94E7-63DC8617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99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保留RFID/导航/视觉识别扩展方向</a:t>
            </a:r>
          </a:p>
        </p:txBody>
      </p:sp>
    </p:spTree>
    <p:extLst>
      <p:ext uri="{BB962C8B-B14F-4D97-AF65-F5344CB8AC3E}">
        <p14:creationId xmlns:p14="http://schemas.microsoft.com/office/powerpoint/2010/main" val="1436132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f69c9fef24b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D22CC-C5F9-41E5-848C-BC582F36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6FB26-A450-4327-8881-330A6519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51F82-9C88-488B-B923-A07B7D8F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1162D"/>
                </a:solidFill>
              </a:defRPr>
            </a:pPr>
            <a:r>
              <a:rPr sz="4050" b="1">
                <a:solidFill>
                  <a:srgbClr val="E116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EF12A-33C7-42E6-B163-F8F1BA59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58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76140-0FBA-4356-80BD-5F957DA9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58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F7FA">
                <a:alpha val="4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12B1F-E61C-44FC-8C97-A88093DC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</a:defRPr>
            </a:pPr>
            <a:r>
              <a:rPr sz="2550" b="1">
                <a:solidFill>
                  <a:srgbClr val="F5F7FA"/>
                </a:solidFill>
              </a:rPr>
              <a:t>硬件平台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9F50C-E96D-45BD-AEFB-876FBC3B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6C2"/>
                </a:solidFill>
              </a:defRPr>
            </a:pPr>
            <a:r>
              <a:rPr sz="1275" b="0">
                <a:solidFill>
                  <a:srgbClr val="AEB6C2"/>
                </a:solidFill>
              </a:rPr>
              <a:t>双轮移动底盘 + STM32主控 + 食品质控测量模块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445A3-9725-4C25-BD75-6DD42ED5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0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8D439-1D25-431C-9CAA-0260C377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942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CD3B8-CB90-485A-B61F-9355F6A5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76425"/>
            <a:ext cx="2438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E">
              <a:alpha val="72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92C39-3935-4FBD-8472-DF5BC97C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764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4a1898cbe4dc7"/>
          <a:srcRect xmlns:a="http://schemas.openxmlformats.org/drawingml/2006/main" l="0" t="28620" r="0" b="286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905000"/>
            <a:ext cx="2381250" cy="1809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39D29-AF36-4BE0-8281-BAB5E46B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6C2"/>
                </a:solidFill>
              </a:defRPr>
            </a:pPr>
            <a:r>
              <a:rPr sz="975" b="0">
                <a:solidFill>
                  <a:srgbClr val="AEB6C2"/>
                </a:solidFill>
              </a:rPr>
              <a:t>双轮运输底盘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BAE12-E6F9-46C0-B1B2-015A2713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876425"/>
            <a:ext cx="2438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E">
              <a:alpha val="72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3D469-B81A-4F3E-8FF5-B13C085C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8764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20af6251241eb"/>
          <a:srcRect xmlns:a="http://schemas.openxmlformats.org/drawingml/2006/main" l="0" t="21511" r="0" b="215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43300" y="1905000"/>
            <a:ext cx="2381250" cy="1809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C19EC-3370-4266-B1D4-1A29FFE7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814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6C2"/>
                </a:solidFill>
              </a:defRPr>
            </a:pPr>
            <a:r>
              <a:rPr sz="975" b="0">
                <a:solidFill>
                  <a:srgbClr val="AEB6C2"/>
                </a:solidFill>
              </a:rPr>
              <a:t>STM32主控连接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88E8E-2F04-49EC-80EB-3D943C1B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76425"/>
            <a:ext cx="2438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E">
              <a:alpha val="72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5E430-5B40-45DC-B39D-9011E8BC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764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19a8f41cc4825"/>
          <a:srcRect xmlns:a="http://schemas.openxmlformats.org/drawingml/2006/main" l="0" t="934" r="0" b="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905000"/>
            <a:ext cx="2381250" cy="1809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B4350-9C99-4719-B06B-DE637558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814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6C2"/>
                </a:solidFill>
              </a:defRPr>
            </a:pPr>
            <a:r>
              <a:rPr sz="975" b="0">
                <a:solidFill>
                  <a:srgbClr val="AEB6C2"/>
                </a:solidFill>
              </a:rPr>
              <a:t>自研扩展板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1041F-5A3C-40E6-82E7-9F2C1A2F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76425"/>
            <a:ext cx="22479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E">
              <a:alpha val="72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C60EC-DAEE-4782-9BAC-25BD3C96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764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ca49e4b65416d"/>
          <a:srcRect xmlns:a="http://schemas.openxmlformats.org/drawingml/2006/main" l="7312" t="0" r="73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7800" y="1905000"/>
            <a:ext cx="2190750" cy="18097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CA76C1-6151-489E-A279-88D42787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814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6C2"/>
                </a:solidFill>
              </a:defRPr>
            </a:pPr>
            <a:r>
              <a:rPr sz="975" b="0">
                <a:solidFill>
                  <a:srgbClr val="AEB6C2"/>
                </a:solidFill>
              </a:rPr>
              <a:t>扩展板原理图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AF260-54C3-4DF9-9C4C-67F4BD5D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C747E-61C4-4B85-94D7-0155633B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87C194-A489-484F-9A65-6DA2A55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05325"/>
            <a:ext cx="948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硬件分工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35298E-6513-4A30-AFB3-51E59453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BB369-B7A6-41FC-9DAE-E82555C2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24425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底盘负责食品搬运，主控负责传感器采集与电机控制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8BE788-021E-4E1D-A970-FDA55B07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61B3F1-8AD0-4402-BA03-A0E1A595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34000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扩展板与支撑结构用于固定模块、整理接口、提升可靠性</a:t>
            </a:r>
          </a:p>
        </p:txBody>
      </p:sp>
    </p:spTree>
    <p:extLst>
      <p:ext uri="{BB962C8B-B14F-4D97-AF65-F5344CB8AC3E}">
        <p14:creationId xmlns:p14="http://schemas.microsoft.com/office/powerpoint/2010/main" val="1798349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93898d9bb44e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D1E06-2431-40B8-B625-E7E0C24F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FBB27-6EC6-4192-A508-BB265906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AB85D-90BD-44EC-8F7A-FA041FE6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1162D"/>
                </a:solidFill>
              </a:defRPr>
            </a:pPr>
            <a:r>
              <a:rPr sz="4050" b="1">
                <a:solidFill>
                  <a:srgbClr val="E116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0EC26-2D10-41F8-A9C0-3D66ED22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58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32B5B-7DA2-408D-A62C-3C65EC46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58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F7FA">
                <a:alpha val="4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16FEE-A86A-415E-B3CA-8235B658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</a:defRPr>
            </a:pPr>
            <a:r>
              <a:rPr sz="2550" b="1">
                <a:solidFill>
                  <a:srgbClr val="F5F7FA"/>
                </a:solidFill>
              </a:rPr>
              <a:t>质量与保鲜环境测量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D3E96-85FA-47B4-A7E6-96B419E1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6C2"/>
                </a:solidFill>
              </a:defRPr>
            </a:pPr>
            <a:r>
              <a:rPr sz="1275" b="0">
                <a:solidFill>
                  <a:srgbClr val="AEB6C2"/>
                </a:solidFill>
              </a:rPr>
              <a:t>重量看是否足称，温湿度看是否适合长时间放置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1F5F1-2BBF-4D2E-B6F6-DD3E43D0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0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D6383-3365-417D-96A5-8153F310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942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191F4-621A-437F-B1DB-D35855A2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71675"/>
            <a:ext cx="29146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E">
              <a:alpha val="72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15601-E470-4785-969B-4B2A1105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71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3f6165a594ce6"/>
          <a:srcRect xmlns:a="http://schemas.openxmlformats.org/drawingml/2006/main" l="0" t="23760" r="0" b="23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000250"/>
            <a:ext cx="2857500" cy="2000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39329-CDA3-42EA-96DD-187CB144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671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6C2"/>
                </a:solidFill>
              </a:defRPr>
            </a:pPr>
            <a:r>
              <a:rPr sz="975" b="0">
                <a:solidFill>
                  <a:srgbClr val="AEB6C2"/>
                </a:solidFill>
              </a:rPr>
              <a:t>DHT11温湿度模块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55DA6-1248-4D4A-8837-7905A0E0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71675"/>
            <a:ext cx="29146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E">
              <a:alpha val="72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9FF8B-EEC9-4F50-8231-FE0E195D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71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24788bac04b6f"/>
          <a:srcRect xmlns:a="http://schemas.openxmlformats.org/drawingml/2006/main" l="0" t="30312" r="0" b="30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2000250"/>
            <a:ext cx="2857500" cy="2000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B1A68-7A87-4F62-A5B2-F24D7AD5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671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6C2"/>
                </a:solidFill>
              </a:defRPr>
            </a:pPr>
            <a:r>
              <a:rPr sz="975" b="0">
                <a:solidFill>
                  <a:srgbClr val="AEB6C2"/>
                </a:solidFill>
              </a:rPr>
              <a:t>柔性压力/称重传感器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26493-854E-44C6-95E2-C2C44461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71675"/>
            <a:ext cx="29146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E">
              <a:alpha val="72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0736B-D96A-4572-A422-3DDDC57D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71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ee7bba74248b1"/>
          <a:srcRect xmlns:a="http://schemas.openxmlformats.org/drawingml/2006/main" l="0" t="23760" r="0" b="23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9150" y="2000250"/>
            <a:ext cx="2857500" cy="20002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F1B50-EB22-4D7F-807B-D31B638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671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6C2"/>
                </a:solidFill>
              </a:defRPr>
            </a:pPr>
            <a:r>
              <a:rPr sz="975" b="0">
                <a:solidFill>
                  <a:srgbClr val="AEB6C2"/>
                </a:solidFill>
              </a:rPr>
              <a:t>OLED现场显示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9CD73-DDB7-4727-AE27-504533E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90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B7B61-5DA4-462A-A442-9B4910D2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C26211-7E16-4A88-BE50-9CB918DD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91075"/>
            <a:ext cx="948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测量意义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E87F2-A71A-43BA-BBB6-75281999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67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8884A-7FA2-4884-A65C-23C97B16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0175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重量估算用于食材验收与足称检查；温湿度用于判断当前环境是否适合保鲜暂存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56004-0ACD-4048-9DEE-57006D0C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D37F81-5A90-4AAF-A87F-E67302AF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当前版本显示实时数据，食材分类阈值与报警策略放入未来扩展</a:t>
            </a:r>
          </a:p>
        </p:txBody>
      </p:sp>
    </p:spTree>
    <p:extLst>
      <p:ext uri="{BB962C8B-B14F-4D97-AF65-F5344CB8AC3E}">
        <p14:creationId xmlns:p14="http://schemas.microsoft.com/office/powerpoint/2010/main" val="124245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fb22bc04c4d5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16DC8-1451-4323-BDC8-0686F9E6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25D04-2760-40E2-BE66-D6E870AF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1EB71-56D5-4291-B1AE-38B14F6F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1162D"/>
                </a:solidFill>
              </a:defRPr>
            </a:pPr>
            <a:r>
              <a:rPr sz="4050" b="1">
                <a:solidFill>
                  <a:srgbClr val="E116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84046-C49E-4F21-BD9E-B3B747DE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58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4F47C-3108-4F01-801A-C3CD7F80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58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F7FA">
                <a:alpha val="4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C86F6-9888-473C-ABEB-F5F74168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</a:defRPr>
            </a:pPr>
            <a:r>
              <a:rPr sz="2550" b="1">
                <a:solidFill>
                  <a:srgbClr val="F5F7FA"/>
                </a:solidFill>
              </a:rPr>
              <a:t>蓝牙APP远程控制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FC82A-0B3D-4CF9-9336-E2914DDB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6C2"/>
                </a:solidFill>
              </a:defRPr>
            </a:pPr>
            <a:r>
              <a:rPr sz="1275" b="0">
                <a:solidFill>
                  <a:srgbClr val="AEB6C2"/>
                </a:solidFill>
              </a:rPr>
              <a:t>当前操控系统采用手机APP下发运动指令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DB3B2-8849-4950-A91C-90ACC984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0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21BDA-CAC1-4DA4-9950-458D8F04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942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312C1-0D32-414C-8D67-6CD3BF9F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924050"/>
            <a:ext cx="3200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E">
              <a:alpha val="72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6B3D6-886E-4D90-9D06-53CBE52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9240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0d228bd8b4b0e"/>
          <a:srcRect xmlns:a="http://schemas.openxmlformats.org/drawingml/2006/main" l="0" t="20466" r="0" b="204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0" y="1952625"/>
            <a:ext cx="3143250" cy="2476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138FD-F855-4140-96F9-07587ED8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6C2"/>
                </a:solidFill>
              </a:defRPr>
            </a:pPr>
            <a:r>
              <a:rPr sz="975" b="0">
                <a:solidFill>
                  <a:srgbClr val="AEB6C2"/>
                </a:solidFill>
              </a:rPr>
              <a:t>蓝牙通信模块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0F13F-4AB8-465C-B31C-1A80CC49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24050"/>
            <a:ext cx="3200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E">
              <a:alpha val="72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B9673-E678-4D00-A874-3A8D11DD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240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5f185e75a4800"/>
          <a:srcRect xmlns:a="http://schemas.openxmlformats.org/drawingml/2006/main" l="20884" t="0" r="208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952625"/>
            <a:ext cx="3143250" cy="2476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7E3FA-B2D3-4091-AB09-D6EE799A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958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6C2"/>
                </a:solidFill>
              </a:defRPr>
            </a:pPr>
            <a:r>
              <a:rPr sz="975" b="0">
                <a:solidFill>
                  <a:srgbClr val="AEB6C2"/>
                </a:solidFill>
              </a:rPr>
              <a:t>手机APP控制界面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72489-31F1-4D12-BB6A-AF1325A7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747E1-6016-43E3-B1BF-F3A3C450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B980F-5E97-4852-8BAF-2165FB94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240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控制逻辑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63BB2-9929-49B2-99E1-14C09FA8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36A71-F3B5-418D-9F44-8ED49198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43175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APP发送前进/后退/转向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B3DDE-688A-439D-A6C3-1F8272D6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04B2A-26D6-471E-8200-F47BD4F9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蓝牙模块传给STM32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F05761-4662-47A1-9071-023306D8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19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DD8A93-289C-49EA-86E4-04307086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62325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主控驱动左右轮差速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7FB0B-44B7-4D3A-85A4-0D374C05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3F5B9-8594-4067-9700-C0B99B12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719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必要时人工接管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4CF3E1-0FF6-4064-AF68-1A63690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EB6C2"/>
                </a:solidFill>
              </a:defRPr>
            </a:pPr>
            <a:r>
              <a:rPr sz="1500" b="0">
                <a:solidFill>
                  <a:srgbClr val="AEB6C2"/>
                </a:solidFill>
              </a:rPr>
              <a:t>蓝牙控制适合原型阶段展示，也符合食品供应链末端人工辅助调度场景。</a:t>
            </a:r>
          </a:p>
        </p:txBody>
      </p:sp>
    </p:spTree>
    <p:extLst>
      <p:ext uri="{BB962C8B-B14F-4D97-AF65-F5344CB8AC3E}">
        <p14:creationId xmlns:p14="http://schemas.microsoft.com/office/powerpoint/2010/main" val="696360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eb50657ed4ff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6E5AA-B1BA-499B-A955-9D77B297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FAFFE-2AFF-4712-84C3-C7C7FFA7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694E4-66D6-4BFA-B6D9-B84BDF80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1162D"/>
                </a:solidFill>
              </a:defRPr>
            </a:pPr>
            <a:r>
              <a:rPr sz="4050" b="1">
                <a:solidFill>
                  <a:srgbClr val="E116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1D2CB-F5CC-4A5D-832D-7DF66C7A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58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45704-15EF-49D2-B0E9-8E95B239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58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F7FA">
                <a:alpha val="4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8DF5D-3E28-4F95-91AC-BF6545FB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</a:defRPr>
            </a:pPr>
            <a:r>
              <a:rPr sz="2550" b="1">
                <a:solidFill>
                  <a:srgbClr val="F5F7FA"/>
                </a:solidFill>
              </a:rPr>
              <a:t>系统数据流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12D69-F2CD-44C5-A4D1-107EC1BC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6C2"/>
                </a:solidFill>
              </a:defRPr>
            </a:pPr>
            <a:r>
              <a:rPr sz="1275" b="0">
                <a:solidFill>
                  <a:srgbClr val="AEB6C2"/>
                </a:solidFill>
              </a:rPr>
              <a:t>运输动作、质量检测、环境显示同步工作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82B7F-14B2-4E28-9E32-F0AD16FC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0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FDC82-03CA-4ED0-BA3A-F355397E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942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EB043-D9BC-411F-BF2C-91789193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016">
              <a:alpha val="76000"/>
            </a:srgbClr>
          </a:solidFill>
          <a:ln xmlns:a="http://schemas.openxmlformats.org/drawingml/2006/main" w="14288">
            <a:solidFill>
              <a:srgbClr val="E116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16A5D-52A7-4CC5-96FE-149470F9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A"/>
                </a:solidFill>
              </a:defRPr>
            </a:pPr>
            <a:r>
              <a:rPr sz="1050" b="1">
                <a:solidFill>
                  <a:srgbClr val="F5F7FA"/>
                </a:solidFill>
              </a:rPr>
              <a:t>手机APP</a:t>
            </a:r>
          </a:p>
          <a:p xmlns:a="http://schemas.openxmlformats.org/drawingml/2006/main">
            <a:pPr algn="ctr">
              <a:defRPr sz="1050" b="1">
                <a:solidFill>
                  <a:srgbClr val="F5F7FA"/>
                </a:solidFill>
              </a:defRPr>
            </a:pPr>
            <a:r>
              <a:rPr sz="1050" b="1">
                <a:solidFill>
                  <a:srgbClr val="F5F7FA"/>
                </a:solidFill>
              </a:rPr>
              <a:t>控制指令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72E9E-4081-4754-BC3C-66F8D678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016">
              <a:alpha val="76000"/>
            </a:srgbClr>
          </a:solidFill>
          <a:ln xmlns:a="http://schemas.openxmlformats.org/drawingml/2006/main" w="14288">
            <a:solidFill>
              <a:srgbClr val="F5F7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768E9-AEB4-4F20-B31A-04F8CDC6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A"/>
                </a:solidFill>
              </a:defRPr>
            </a:pPr>
            <a:r>
              <a:rPr sz="1050" b="1">
                <a:solidFill>
                  <a:srgbClr val="F5F7FA"/>
                </a:solidFill>
              </a:rPr>
              <a:t>蓝牙模块</a:t>
            </a:r>
          </a:p>
          <a:p xmlns:a="http://schemas.openxmlformats.org/drawingml/2006/main">
            <a:pPr algn="ctr">
              <a:defRPr sz="1050" b="1">
                <a:solidFill>
                  <a:srgbClr val="F5F7FA"/>
                </a:solidFill>
              </a:defRPr>
            </a:pPr>
            <a:r>
              <a:rPr sz="1050" b="1">
                <a:solidFill>
                  <a:srgbClr val="F5F7FA"/>
                </a:solidFill>
              </a:rPr>
              <a:t>串口通信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5175D-4D46-4B23-BA2D-6E1FB29D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016">
              <a:alpha val="76000"/>
            </a:srgbClr>
          </a:solidFill>
          <a:ln xmlns:a="http://schemas.openxmlformats.org/drawingml/2006/main" w="14288">
            <a:solidFill>
              <a:srgbClr val="E116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9971A-7CB4-4FFB-9F1D-956483E8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05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A"/>
                </a:solidFill>
              </a:defRPr>
            </a:pPr>
            <a:r>
              <a:rPr sz="1050" b="1">
                <a:solidFill>
                  <a:srgbClr val="F5F7FA"/>
                </a:solidFill>
              </a:rPr>
              <a:t>STM32主控</a:t>
            </a:r>
          </a:p>
          <a:p xmlns:a="http://schemas.openxmlformats.org/drawingml/2006/main">
            <a:pPr algn="ctr">
              <a:defRPr sz="1050" b="1">
                <a:solidFill>
                  <a:srgbClr val="F5F7FA"/>
                </a:solidFill>
              </a:defRPr>
            </a:pPr>
            <a:r>
              <a:rPr sz="1050" b="1">
                <a:solidFill>
                  <a:srgbClr val="F5F7FA"/>
                </a:solidFill>
              </a:rPr>
              <a:t>调度处理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1A8F7-49A7-48A0-9F14-B43841D4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016">
              <a:alpha val="76000"/>
            </a:srgbClr>
          </a:solidFill>
          <a:ln xmlns:a="http://schemas.openxmlformats.org/drawingml/2006/main" w="14288">
            <a:solidFill>
              <a:srgbClr val="F5F7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E845A-40CD-4FE0-8EC1-699CD786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05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A"/>
                </a:solidFill>
              </a:defRPr>
            </a:pPr>
            <a:r>
              <a:rPr sz="1050" b="1">
                <a:solidFill>
                  <a:srgbClr val="F5F7FA"/>
                </a:solidFill>
              </a:rPr>
              <a:t>TB6612</a:t>
            </a:r>
          </a:p>
          <a:p xmlns:a="http://schemas.openxmlformats.org/drawingml/2006/main">
            <a:pPr algn="ctr">
              <a:defRPr sz="1050" b="1">
                <a:solidFill>
                  <a:srgbClr val="F5F7FA"/>
                </a:solidFill>
              </a:defRPr>
            </a:pPr>
            <a:r>
              <a:rPr sz="1050" b="1">
                <a:solidFill>
                  <a:srgbClr val="F5F7FA"/>
                </a:solidFill>
              </a:rPr>
              <a:t>双轮底盘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50993-5794-4126-A1AC-EC52034E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016">
              <a:alpha val="76000"/>
            </a:srgbClr>
          </a:solidFill>
          <a:ln xmlns:a="http://schemas.openxmlformats.org/drawingml/2006/main" w="14288">
            <a:solidFill>
              <a:srgbClr val="E116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11CD6-5AFC-4D5E-B22F-48611CB6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050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A"/>
                </a:solidFill>
              </a:defRPr>
            </a:pPr>
            <a:r>
              <a:rPr sz="1050" b="1">
                <a:solidFill>
                  <a:srgbClr val="F5F7FA"/>
                </a:solidFill>
              </a:rPr>
              <a:t>OLED</a:t>
            </a:r>
          </a:p>
          <a:p xmlns:a="http://schemas.openxmlformats.org/drawingml/2006/main">
            <a:pPr algn="ctr">
              <a:defRPr sz="1050" b="1">
                <a:solidFill>
                  <a:srgbClr val="F5F7FA"/>
                </a:solidFill>
              </a:defRPr>
            </a:pPr>
            <a:r>
              <a:rPr sz="1050" b="1">
                <a:solidFill>
                  <a:srgbClr val="F5F7FA"/>
                </a:solidFill>
              </a:rPr>
              <a:t>现场显示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D88C8-4B37-4EF6-A809-ED194794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669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7FA">
                <a:alpha val="7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4EAFF-0330-4FA2-9627-93E77F94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48827-D043-4B7D-AD20-8EC70B7D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669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7FA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20A1F-0A7D-4A38-8761-AD54E098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5D1B6-A030-454E-A73A-3636BDB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669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7FA">
                <a:alpha val="72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FDFD9-A602-46A1-A519-5595A2CD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8CC377-A2B7-47BE-9B14-50C5FBC7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669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7FA">
                <a:alpha val="72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556780-56EE-4AF8-BA1E-B830D12B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F4554-69BF-478F-94F3-25730E15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9334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6132B5-A4A7-45BE-B4A2-C432C0A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C826BD-8429-4F90-9708-5C5FE683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76700"/>
            <a:ext cx="891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传感器输入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AA7CD-C349-4D47-B0CA-EA3D7BFC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B70BEC-4B97-457B-9A6B-49205BFB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95800"/>
            <a:ext cx="874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DHT11输入当前温湿度；压力传感器输入食材重量估算值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6F3F84-FE38-402C-BFBA-8794E2E7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62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76CC9D-C3E3-436C-95CA-0014EA79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05375"/>
            <a:ext cx="874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OLED显示环境和质量数据，调试阶段可继续通过Ozone观察原始变量</a:t>
            </a:r>
          </a:p>
        </p:txBody>
      </p:sp>
    </p:spTree>
    <p:extLst>
      <p:ext uri="{BB962C8B-B14F-4D97-AF65-F5344CB8AC3E}">
        <p14:creationId xmlns:p14="http://schemas.microsoft.com/office/powerpoint/2010/main" val="1846377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08c42d0a44d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7A729-E1DE-47E4-9E18-CD3EC0CB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EECD0-B51A-4A9D-A6A8-E49D4F7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FD6C8-A426-4287-98E9-27C439A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1162D"/>
                </a:solidFill>
              </a:defRPr>
            </a:pPr>
            <a:r>
              <a:rPr sz="4050" b="1">
                <a:solidFill>
                  <a:srgbClr val="E116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71233-383F-4FFD-94AA-5CCAD030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58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BEBFB-A421-487E-B19A-BE6A3B9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58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F7FA">
                <a:alpha val="4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46A01-835E-4412-8972-D4A1B3EB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</a:defRPr>
            </a:pPr>
            <a:r>
              <a:rPr sz="2550" b="1">
                <a:solidFill>
                  <a:srgbClr val="F5F7FA"/>
                </a:solidFill>
              </a:rPr>
              <a:t>当前实现效果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E6E6D-B32B-40EB-8807-AB5A91FC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6C2"/>
                </a:solidFill>
              </a:defRPr>
            </a:pPr>
            <a:r>
              <a:rPr sz="1275" b="0">
                <a:solidFill>
                  <a:srgbClr val="AEB6C2"/>
                </a:solidFill>
              </a:rPr>
              <a:t>完成食品运输机器人原型的运动、测量、显示与遥控链路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0E27D-680F-4795-A6C6-6E9178E1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0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CDF7B-F6B0-4562-A929-F0BA57B9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942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3B2ED-50B0-4E0B-A4AA-B7A1846C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71897-9E3B-46E1-B1B8-5D95A2C2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1417C-3532-45D1-A595-972E26D6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已完成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5C25D-A33F-4195-9C84-35571994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6B4F0-E2F5-4938-8D1D-412BB6BD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双轮底盘可由蓝牙APP控制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86AA7-B31B-4B2B-BB77-C60E4458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0D3BD-6F0E-4AA3-B34B-A31ADCEC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8132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OLED显示温湿度、重量和ADC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C6E15-C5D8-4487-8579-9C5F8366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D3FFE-AC1B-4CF2-9BF7-F71D49B7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压力传感器支持重量趋势检测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17F3B-C6BC-49A5-93F6-966173CA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CCD6A-336C-4C2F-AD71-2B9B72EA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004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温湿度传感器支持环境观察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84F0D-3206-4C2A-98B6-0F336EA8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56E52-9718-43A6-963D-91477F42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D6433B-8261-442C-8961-BCCE00E4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526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适用展示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BEB6A-CEC7-4E93-8E8F-589FA725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E0183-9C55-4927-8186-38D917A1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食材放置后读取重量估算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A5B49-44E5-48B7-8531-C4B928D1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38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91AE6-5B58-45BC-BECC-75D9EA38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8132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观察当前环境温湿度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DB870D-4B03-457D-B64C-03CDDC12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A3A6A-05CB-4421-A767-6E186E11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远程控制机器人短距离搬运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7290E9-1D53-4158-82C6-AFAACF9B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A1C8D3-7E6A-4D08-8509-14D94C2C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004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展示供应链末端辅助运输场景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558BF7-142D-4D8F-82BF-459D971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92E1B0-7B88-4371-8E88-4483D5A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8E0C48-3757-4F58-8196-8CAC74F2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当前限制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A3AD08-A59F-45BC-B27A-41F6033C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2917F6-CA82-4353-985B-13CC54A9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称重精度仍需校准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FEB1E3-F02F-428D-8BA9-A55758F9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38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88E6C0-3625-4861-B489-CF0CC5DD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8132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尚未建立食材保鲜阈值表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219444-0EA6-4691-8CAD-7A26DD9F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4C64B2-756F-4F97-AD93-0B5854FE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导航与识别尚未实现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B0D31E-48B6-4521-934A-98384ACE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165117-E6D6-47E1-8EFD-32220EBD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004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仍以人工APP遥控为主</a:t>
            </a:r>
          </a:p>
        </p:txBody>
      </p:sp>
    </p:spTree>
    <p:extLst>
      <p:ext uri="{BB962C8B-B14F-4D97-AF65-F5344CB8AC3E}">
        <p14:creationId xmlns:p14="http://schemas.microsoft.com/office/powerpoint/2010/main" val="1037878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ff4a90b38422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42610-A9E3-422E-B848-AB26A403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F93EE-724C-433C-AA15-50E3E1E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8FDF2-4A69-42A1-9E4B-B3D30644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1162D"/>
                </a:solidFill>
              </a:defRPr>
            </a:pPr>
            <a:r>
              <a:rPr sz="4050" b="1">
                <a:solidFill>
                  <a:srgbClr val="E1162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4D8CF-8F53-4214-BA2F-74BD8024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58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D229B-98CD-4D46-85AB-E93C54A9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58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F7FA">
                <a:alpha val="4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D319F-7992-4931-8DF2-A94F2C34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</a:defRPr>
            </a:pPr>
            <a:r>
              <a:rPr sz="2550" b="1">
                <a:solidFill>
                  <a:srgbClr val="F5F7FA"/>
                </a:solidFill>
              </a:rPr>
              <a:t>未来展望与废案方向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1C803-ACD0-4EDD-8676-3C5E10FE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6C2"/>
                </a:solidFill>
              </a:defRPr>
            </a:pPr>
            <a:r>
              <a:rPr sz="1275" b="0">
                <a:solidFill>
                  <a:srgbClr val="AEB6C2"/>
                </a:solidFill>
              </a:rPr>
              <a:t>从远程控制原型走向智能食品供应链运输节点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5723B-4474-4A5A-9D20-E177EBBD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0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D5186-A1C9-4203-969E-0AEF4D1B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942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DAD2B-19F7-439A-BE73-1D47F1A7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27241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E">
              <a:alpha val="72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2F447-94BD-416A-9170-B0695D26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80cfc787a42d1"/>
          <a:srcRect xmlns:a="http://schemas.openxmlformats.org/drawingml/2006/main" l="0" t="13830" r="0" b="13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000250"/>
            <a:ext cx="2667000" cy="3429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22C61-D4B2-454C-8135-BC0C5051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959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6C2"/>
                </a:solidFill>
              </a:defRPr>
            </a:pPr>
            <a:r>
              <a:rPr sz="975" b="0">
                <a:solidFill>
                  <a:srgbClr val="AEB6C2"/>
                </a:solidFill>
              </a:rPr>
              <a:t>双轮导航运输构想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02926-0278-4908-93D8-FAA17642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EB773-AC8C-4174-A74B-7F3CB93D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C17E7-74C4-4B24-B300-EF0EA60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24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食品保鲜判断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5C3A6-0349-4581-9F42-9EBB0740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DAD93-ECB3-45B5-A0FA-1912776B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4317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建立不同食材温湿度阈值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03FE5-02A0-4EE4-B06D-51B92E7B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DFD74-666D-4D85-9D34-2A65A114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环境不适合时报警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C623F-F6C3-4FAF-9211-66DCECB2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19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62D"/>
          </a:solidFill>
          <a:ln xmlns:a="http://schemas.openxmlformats.org/drawingml/2006/main" w="0">
            <a:solidFill>
              <a:srgbClr val="E116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07EF9-32E1-4E8E-A761-C2187F1B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必要时导航到合适存储点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9E06C6-4A13-404E-9CB9-DAA33691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0">
              <a:alpha val="70000"/>
            </a:srgbClr>
          </a:solidFill>
          <a:ln xmlns:a="http://schemas.openxmlformats.org/drawingml/2006/main" w="9525">
            <a:solidFill>
              <a:srgbClr val="F5F7FA">
                <a:alpha val="4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74FAA6-25FA-4FA9-80A8-9A3950EB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8D292B-8844-431E-891F-2D27A6EB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24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智能识别与导航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8A12F-6FF8-4449-AF50-AB9BD500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FBF4F8-D171-4978-ACF6-47BD26AD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4317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RFID识别货架/目的地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186903-0230-4CFF-B63A-3A1365B7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334855-AFB2-48EE-B4F5-574019C2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摄像头 + YOLO识别食材种类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1BE7F6-8060-45AA-8D26-F50DDE1E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19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07FBB3-671B-4EC0-986A-B587788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6232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6C2"/>
                </a:solidFill>
              </a:defRPr>
            </a:pPr>
            <a:r>
              <a:rPr sz="1200" b="0">
                <a:solidFill>
                  <a:srgbClr val="AEB6C2"/>
                </a:solidFill>
              </a:rPr>
              <a:t>自动匹配保鲜规则和称重标准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6EF18E-48E5-4C93-A7D9-A4B8D81C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EB6C2"/>
                </a:solidFill>
              </a:defRPr>
            </a:pPr>
            <a:r>
              <a:rPr sz="1425" b="0">
                <a:solidFill>
                  <a:srgbClr val="AEB6C2"/>
                </a:solidFill>
              </a:rPr>
              <a:t>这些功能目前作为未来扩展/废案，不写成已完成内容。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1CA0F-EF54-4C7D-93AD-E35F55BE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293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5F7FA"/>
                </a:solidFill>
              </a:defRPr>
            </a:pPr>
            <a:r>
              <a:rPr sz="3300" b="1">
                <a:solidFill>
                  <a:srgbClr val="F5F7FA"/>
                </a:solidFill>
              </a:rPr>
              <a:t>THANKS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4BF88-BDF9-4A73-A28D-CEA200FC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436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162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3948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2026-06-23T04:07:37.7660000Z</dcterms:created>
  <dcterms:modified xsi:type="dcterms:W3CDTF">2026-06-23T04:07:37.7660000Z</dcterms:modified>
</coreProperties>
</file>